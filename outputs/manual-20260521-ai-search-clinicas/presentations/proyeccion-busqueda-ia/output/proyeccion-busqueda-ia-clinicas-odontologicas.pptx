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0220db301047ce" /><Relationship Type="http://schemas.openxmlformats.org/officeDocument/2006/relationships/extended-properties" Target="/docProps/app.xml" Id="Rd416d32691f4472e" /><Relationship Type="http://schemas.openxmlformats.org/officeDocument/2006/relationships/officeDocument" Target="/ppt/presentation.xml" Id="R40439156b8b048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62f1168440471b"/>
  </p:sldMasterIdLst>
  <p:notesMasterIdLst>
    <p:notesMasterId xmlns:r="http://schemas.openxmlformats.org/officeDocument/2006/relationships" r:id="R79a66ec46de445de"/>
  </p:notesMasterIdLst>
  <p:sldIdLst>
    <p:sldId xmlns:r="http://schemas.openxmlformats.org/officeDocument/2006/relationships" id="256" r:id="Rbdf1957c64fe4eee"/>
    <p:sldId xmlns:r="http://schemas.openxmlformats.org/officeDocument/2006/relationships" id="257" r:id="R37b6d4c231b849a6"/>
    <p:sldId xmlns:r="http://schemas.openxmlformats.org/officeDocument/2006/relationships" id="258" r:id="Rc611fc3554204e63"/>
    <p:sldId xmlns:r="http://schemas.openxmlformats.org/officeDocument/2006/relationships" id="259" r:id="R99527575de8345cd"/>
    <p:sldId xmlns:r="http://schemas.openxmlformats.org/officeDocument/2006/relationships" id="260" r:id="R73d89e7c6bea4c12"/>
    <p:sldId xmlns:r="http://schemas.openxmlformats.org/officeDocument/2006/relationships" id="261" r:id="R7b690573414b4d24"/>
    <p:sldId xmlns:r="http://schemas.openxmlformats.org/officeDocument/2006/relationships" id="262" r:id="R43dd01a6210b43c0"/>
    <p:sldId xmlns:r="http://schemas.openxmlformats.org/officeDocument/2006/relationships" id="263" r:id="R8b0b88b6ff7e4650"/>
    <p:sldId xmlns:r="http://schemas.openxmlformats.org/officeDocument/2006/relationships" id="264" r:id="R96500d7da21f4126"/>
    <p:sldId xmlns:r="http://schemas.openxmlformats.org/officeDocument/2006/relationships" id="265" r:id="Rd74fd0760ccb480f"/>
    <p:sldId xmlns:r="http://schemas.openxmlformats.org/officeDocument/2006/relationships" id="266" r:id="Reebb62ab754c49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2f1168440471b" /><Relationship Type="http://schemas.openxmlformats.org/officeDocument/2006/relationships/theme" Target="/ppt/theme/theme1.xml" Id="R2ee6709b852049e3" /><Relationship Type="http://schemas.openxmlformats.org/officeDocument/2006/relationships/notesMaster" Target="/ppt/notesMasters/notesMaster1.xml" Id="R79a66ec46de445de" /><Relationship Type="http://schemas.openxmlformats.org/officeDocument/2006/relationships/presProps" Target="/ppt/presProps.xml" Id="R404971f3d6804cf0" /><Relationship Type="http://schemas.openxmlformats.org/officeDocument/2006/relationships/viewProps" Target="/ppt/viewProps.xml" Id="Raee296c2316a4b36" /><Relationship Type="http://schemas.openxmlformats.org/officeDocument/2006/relationships/tableStyles" Target="/ppt/tableStyles.xml" Id="R61cd119636054f8e" /><Relationship Type="http://schemas.openxmlformats.org/officeDocument/2006/relationships/slide" Target="/ppt/slides/slide1.xml" Id="Rbdf1957c64fe4eee" /><Relationship Type="http://schemas.openxmlformats.org/officeDocument/2006/relationships/slide" Target="/ppt/slides/slide2.xml" Id="R37b6d4c231b849a6" /><Relationship Type="http://schemas.openxmlformats.org/officeDocument/2006/relationships/slide" Target="/ppt/slides/slide3.xml" Id="Rc611fc3554204e63" /><Relationship Type="http://schemas.openxmlformats.org/officeDocument/2006/relationships/slide" Target="/ppt/slides/slide4.xml" Id="R99527575de8345cd" /><Relationship Type="http://schemas.openxmlformats.org/officeDocument/2006/relationships/slide" Target="/ppt/slides/slide5.xml" Id="R73d89e7c6bea4c12" /><Relationship Type="http://schemas.openxmlformats.org/officeDocument/2006/relationships/slide" Target="/ppt/slides/slide6.xml" Id="R7b690573414b4d24" /><Relationship Type="http://schemas.openxmlformats.org/officeDocument/2006/relationships/slide" Target="/ppt/slides/slide7.xml" Id="R43dd01a6210b43c0" /><Relationship Type="http://schemas.openxmlformats.org/officeDocument/2006/relationships/slide" Target="/ppt/slides/slide8.xml" Id="R8b0b88b6ff7e4650" /><Relationship Type="http://schemas.openxmlformats.org/officeDocument/2006/relationships/slide" Target="/ppt/slides/slide9.xml" Id="R96500d7da21f4126" /><Relationship Type="http://schemas.openxmlformats.org/officeDocument/2006/relationships/slide" Target="/ppt/slides/slide10.xml" Id="Rd74fd0760ccb480f" /><Relationship Type="http://schemas.openxmlformats.org/officeDocument/2006/relationships/slide" Target="/ppt/slides/slide11.xml" Id="Reebb62ab754c49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ce488c03d2a4b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fca67f895f4779" /><Relationship Type="http://schemas.openxmlformats.org/officeDocument/2006/relationships/notesMaster" Target="/ppt/notesMasters/notesMaster1.xml" Id="Rfbd7fed6fdc743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59824ac96c4c36" /><Relationship Type="http://schemas.openxmlformats.org/officeDocument/2006/relationships/notesMaster" Target="/ppt/notesMasters/notesMaster1.xml" Id="Rdea1507b306c4b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9a80638a424786" /><Relationship Type="http://schemas.openxmlformats.org/officeDocument/2006/relationships/notesMaster" Target="/ppt/notesMasters/notesMaster1.xml" Id="R2f25fcf6017548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0a4e14244041b9" /><Relationship Type="http://schemas.openxmlformats.org/officeDocument/2006/relationships/notesMaster" Target="/ppt/notesMasters/notesMaster1.xml" Id="R55eb4c8557b14c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6611b0bcb64607" /><Relationship Type="http://schemas.openxmlformats.org/officeDocument/2006/relationships/notesMaster" Target="/ppt/notesMasters/notesMaster1.xml" Id="R0f362860cc0b42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61533c1d4d42d3" /><Relationship Type="http://schemas.openxmlformats.org/officeDocument/2006/relationships/notesMaster" Target="/ppt/notesMasters/notesMaster1.xml" Id="Rba2751a47a9d4e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961a5914c14adc" /><Relationship Type="http://schemas.openxmlformats.org/officeDocument/2006/relationships/notesMaster" Target="/ppt/notesMasters/notesMaster1.xml" Id="R0d128621316448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2d18dc322e4e52" /><Relationship Type="http://schemas.openxmlformats.org/officeDocument/2006/relationships/notesMaster" Target="/ppt/notesMasters/notesMaster1.xml" Id="Rce62d109c2344d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08a24aa4ed4e5e" /><Relationship Type="http://schemas.openxmlformats.org/officeDocument/2006/relationships/notesMaster" Target="/ppt/notesMasters/notesMaster1.xml" Id="R176661a82d7643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8b4fd84db24aed" /><Relationship Type="http://schemas.openxmlformats.org/officeDocument/2006/relationships/notesMaster" Target="/ppt/notesMasters/notesMaster1.xml" Id="Re4db4152370e44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48af9dc6454eee" /><Relationship Type="http://schemas.openxmlformats.org/officeDocument/2006/relationships/notesMaster" Target="/ppt/notesMasters/notesMaster1.xml" Id="R3cb0e724d72c41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6e499a17444f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d97013b49bc4faf" /><Relationship Type="http://schemas.openxmlformats.org/officeDocument/2006/relationships/slideLayout" Target="/ppt/slideLayouts/slideLayout2.xml" Id="R3a923294dfa54c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923294dfa54c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ddf6e415c445d2" /><Relationship Type="http://schemas.openxmlformats.org/officeDocument/2006/relationships/notesSlide" Target="/ppt/notesSlides/notesSlide1.xml" Id="R594c27fba7cf43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219c1eed3b43c1" /><Relationship Type="http://schemas.openxmlformats.org/officeDocument/2006/relationships/notesSlide" Target="/ppt/notesSlides/notesSlide2.xml" Id="Rd341e03b4f6345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fc4b3f07d84bb5" /><Relationship Type="http://schemas.openxmlformats.org/officeDocument/2006/relationships/notesSlide" Target="/ppt/notesSlides/notesSlide3.xml" Id="R49a24a7b06f045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8a3889d39b4157" /><Relationship Type="http://schemas.openxmlformats.org/officeDocument/2006/relationships/notesSlide" Target="/ppt/notesSlides/notesSlide4.xml" Id="R4098a49eec8e44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dc7f310c1c4cec" /><Relationship Type="http://schemas.openxmlformats.org/officeDocument/2006/relationships/notesSlide" Target="/ppt/notesSlides/notesSlide5.xml" Id="R38b0570a38b24e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518106afd94140" /><Relationship Type="http://schemas.openxmlformats.org/officeDocument/2006/relationships/notesSlide" Target="/ppt/notesSlides/notesSlide6.xml" Id="R3b8b10583f2441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e01180da714205" /><Relationship Type="http://schemas.openxmlformats.org/officeDocument/2006/relationships/notesSlide" Target="/ppt/notesSlides/notesSlide7.xml" Id="Rd59675fa258c4a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de41aae6694795" /><Relationship Type="http://schemas.openxmlformats.org/officeDocument/2006/relationships/notesSlide" Target="/ppt/notesSlides/notesSlide8.xml" Id="Ra38d75e13d5143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07a16df38547bf" /><Relationship Type="http://schemas.openxmlformats.org/officeDocument/2006/relationships/notesSlide" Target="/ppt/notesSlides/notesSlide9.xml" Id="Raf3d41ebe3e04d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70462d68094e7c" /><Relationship Type="http://schemas.openxmlformats.org/officeDocument/2006/relationships/notesSlide" Target="/ppt/notesSlides/notesSlide10.xml" Id="Rf4f06425f0734a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1f40912c894572" /><Relationship Type="http://schemas.openxmlformats.org/officeDocument/2006/relationships/notesSlide" Target="/ppt/notesSlides/notesSlide11.xml" Id="R72fa757635b244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87605-74D9-4089-91B0-7B9A6C31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5B753-0A1E-4D16-8B40-E9B4554B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55B4D-963A-45F7-85D6-0DC487C4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Pew, AP-NORC, Gartner, DataReportal, Google | proyeccion direccional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16BBD-B0D9-4E29-BD24-BB29E18C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CED20-FA99-43F0-AC4B-C1F3587B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D5C45-AD32-461D-A030-2CD70A73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"/>
            <a:ext cx="495300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PROYECCION 2026-2030-marker">
            <a:extLst xmlns:a="http://schemas.openxmlformats.org/drawingml/2006/main">
              <a:ext uri="{FF2B5EF4-FFF2-40B4-BE49-F238E27FC236}">
                <a16:creationId xmlns:a16="http://schemas.microsoft.com/office/drawing/2014/main" id="{5EFC61AC-302D-4195-8C4F-C868F30D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PROYECCION 2026-2030-label">
            <a:extLst xmlns:a="http://schemas.openxmlformats.org/drawingml/2006/main">
              <a:ext uri="{FF2B5EF4-FFF2-40B4-BE49-F238E27FC236}">
                <a16:creationId xmlns:a16="http://schemas.microsoft.com/office/drawing/2014/main" id="{895601EC-E52E-4871-96FE-276328FF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PROYECCION 2026-2030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1A141-8C62-4B2C-9527-8B6423BB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gente no va a dejar de buscar.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 a dejar de buscar como antes.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CB584-DC69-4A90-9C20-DD39E2C1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571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7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7D7CE"/>
                </a:solidFill>
                <a:latin typeface="Aptos"/>
                <a:ea typeface="Aptos"/>
                <a:cs typeface="Aptos"/>
              </a:rPr>
              <a:t>Como la IA reemplaza parte de Google y de las redes en el camino del paciente odontologico.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09041-6C38-47AB-B9FE-194E7834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71650"/>
            <a:ext cx="1314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F034A-A44B-477A-9156-C40F55A9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717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90E45-963D-4BD9-B862-C30A5B97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1314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D98AF-46AB-45E7-B8EB-88FE341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124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Respuestas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8B8CD-C844-4FFE-8E1A-C0D9818D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1314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81F74-E287-459F-895F-D5CDE98F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4005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Comparacion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D5966-2A50-4F95-899A-9300AD2D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0"/>
            <a:ext cx="1314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908EA-98F1-4EC1-97EA-44050474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3530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A0BA6-C56C-4F47-B54D-121C2464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Efecto clave: menos clicks exploratorios, mas respuestas sintetizadas, mas necesidad de autoridad verificable.</a:t>
            </a:r>
          </a:p>
        </p:txBody>
      </p:sp>
    </p:spTree>
    <p:extLst>
      <p:ext uri="{BB962C8B-B14F-4D97-AF65-F5344CB8AC3E}">
        <p14:creationId xmlns:p14="http://schemas.microsoft.com/office/powerpoint/2010/main" val="8352353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D4BF66-1843-48CB-A64C-E71619DA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843FB-F265-4A45-B0F7-6FDA5867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1B270-056C-4703-B001-005649FE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Pew, AP-NORC, Gartner, DataReportal, Google | proyeccion direccional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877BD-9372-4DF4-85B9-4F413D5F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5" name="kicker-SENALES ACTUALES-marker">
            <a:extLst xmlns:a="http://schemas.openxmlformats.org/drawingml/2006/main">
              <a:ext uri="{FF2B5EF4-FFF2-40B4-BE49-F238E27FC236}">
                <a16:creationId xmlns:a16="http://schemas.microsoft.com/office/drawing/2014/main" id="{02C275C4-8451-43F9-9D1C-DDDD6A59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SENALES ACTUALES-label">
            <a:extLst xmlns:a="http://schemas.openxmlformats.org/drawingml/2006/main">
              <a:ext uri="{FF2B5EF4-FFF2-40B4-BE49-F238E27FC236}">
                <a16:creationId xmlns:a16="http://schemas.microsoft.com/office/drawing/2014/main" id="{23576DC4-ED4B-498B-A9B6-38D49020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SENALES ACTUALES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7FCE8-A5B7-4541-9E5D-310B9727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El cambio ya esta pasando, pero no reemplaza todo al mismo ritmo.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332E0-342A-4292-BEFE-98F9FF26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2286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155CD-7BA7-4423-B7CA-5CF7C845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2286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A88A1-3EBB-490A-91C7-29825A87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rPr>
              <a:t>34%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CDFFC-EA72-488C-8584-80CC7C78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adultos usaron ChatGPT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DCDED-7285-4030-9EA7-A7858FFC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Pew, EE.UU.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96335-764B-45B0-BEF9-67D8CB2F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47900"/>
            <a:ext cx="2286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2CDA8-11F8-446E-AD4B-6C12BAFF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47900"/>
            <a:ext cx="2286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05D1B-5328-4637-AC84-49B50352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146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rPr>
              <a:t>60%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5D9BF-2C58-4423-9002-4B7E2448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908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usan IA para informacion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BE112-A7B9-461C-9987-DBA23BBA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766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AP-NORC, al menos a veces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3C958-9800-4D27-BF35-1CBA3CDC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2286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D723E-6672-44A1-A15D-7A6668E7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2286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7629D-9CFF-4887-BE46-B3C02FD2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146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rPr>
              <a:t>25%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C3064-A7C9-45F3-9E05-C60F4AA9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908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caida proyectada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4A7C0-EBC0-4A7A-9AA2-801F2BD1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766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Gartner para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42B96B-8692-4F4D-8D4D-63E863CC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47900"/>
            <a:ext cx="2286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915F3A-5C9D-4F9A-825E-0FAEEC49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47900"/>
            <a:ext cx="2286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929220-AE93-4089-978F-DB920E44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146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rPr>
              <a:t>64%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06D558-450B-47E8-BC8C-2D1B8CF8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908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teens usan chatbots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1794ED-C345-4CF7-8B80-8719FDE8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766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Pew, teens 2025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670635-6089-4645-965F-A8E4CDF3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A1760D-15F7-442C-AB56-E47AC62D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Lectura: la IA ya funciona como motor de respuestas; Google y redes siguen siendo fuertes para mapas, reputacion, video y prueba social.</a:t>
            </a:r>
          </a:p>
        </p:txBody>
      </p:sp>
    </p:spTree>
    <p:extLst>
      <p:ext uri="{BB962C8B-B14F-4D97-AF65-F5344CB8AC3E}">
        <p14:creationId xmlns:p14="http://schemas.microsoft.com/office/powerpoint/2010/main" val="13357203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E46066-05AB-4789-BE34-F98F6004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836E8-79B2-4EB9-86BC-3E5418A7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C369D-F01F-48E6-80F0-C25EEF0A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Pew, AP-NORC, Gartner, DataReportal, Google | proyeccion direccional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06AE9-B144-4267-A5CA-8CBDECA8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5" name="kicker-CURVA DE REEMPLAZO-marker">
            <a:extLst xmlns:a="http://schemas.openxmlformats.org/drawingml/2006/main">
              <a:ext uri="{FF2B5EF4-FFF2-40B4-BE49-F238E27FC236}">
                <a16:creationId xmlns:a16="http://schemas.microsoft.com/office/drawing/2014/main" id="{2201343C-E83A-4A88-9DE1-809FEDAB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CURVA DE REEMPLAZO-label">
            <a:extLst xmlns:a="http://schemas.openxmlformats.org/drawingml/2006/main">
              <a:ext uri="{FF2B5EF4-FFF2-40B4-BE49-F238E27FC236}">
                <a16:creationId xmlns:a16="http://schemas.microsoft.com/office/drawing/2014/main" id="{3A4685D5-94C1-4B75-89CE-19BD7EB2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CURVA DE REEMPLAZO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1C3F1-1BAF-4027-B970-42A467B2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477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La busqueda se vuelve AI-mediated antes de volverse AI-only.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16FA6-EF33-4FB5-ADED-43DE36F3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Indice direccional 2024-2030: 100 = patron convencional inicial. No es market share auditado.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6DD73-2767-48EE-8E13-506373B9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81745"/>
            <a:ext cx="495300" cy="2337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D74FD-681C-434C-8F48-474BF061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3409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17A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17A9A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1BC67-7F4D-46F1-A9CF-768CE517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16992-9166-487B-BF24-0EBAE276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32664"/>
            <a:ext cx="495300" cy="187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7E89E-0A8B-4A53-8700-996FBF5D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85014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F6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F6F4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E3383-1AB6-4472-A782-434A4167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18314"/>
            <a:ext cx="495300" cy="7013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85E63-AD67-45CF-8677-B4181336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70664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92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9273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41599-D5AC-478A-9D14-9BA8208E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68782"/>
            <a:ext cx="495300" cy="2150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47C02-AB0E-40F1-B25F-A6B95743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21132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17A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17A9A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163FA-B1EA-4925-9A25-B913F7DA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334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B5229-BBFA-4DEF-9D95-08909424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798868"/>
            <a:ext cx="495300" cy="420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FAA6C-AD53-4A18-AE08-F315FCBB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551218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F6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F6F4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80223-8111-4061-A605-2403F182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71555"/>
            <a:ext cx="495300" cy="748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0FE8B-DA6A-48DF-832B-1D68D5D6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2390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92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9273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1DB8DA-FD3D-4BA2-83E3-96E06E31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96095"/>
            <a:ext cx="495300" cy="1823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C91CBF-C815-41A0-9CC3-AC0ED838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4844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17A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17A9A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17A9F1-A7E1-4135-97BC-FFCF3768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34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13C043-C9ED-4183-A517-E52A29C5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71555"/>
            <a:ext cx="495300" cy="748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B6E135-3670-4986-9D69-3D014929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2390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F6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F6F4A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9F9F5F-D4F2-440C-A576-589310DA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24795"/>
            <a:ext cx="495300" cy="794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634481-FE97-493E-A201-AC966403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7714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92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9273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F08608-D066-4F66-9F11-B7B81E02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629891"/>
            <a:ext cx="495300" cy="15898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CCA434-5043-4156-8086-980B4095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382241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17A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17A9A"/>
                </a:solidFill>
                <a:latin typeface="Aptos"/>
                <a:ea typeface="Aptos"/>
                <a:cs typeface="Aptos"/>
              </a:rPr>
              <a:t>68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E06AC7-CC80-49AC-9EBB-25871D7A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334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2027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8560F1-1CDF-4462-9E70-88FD3535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167620"/>
            <a:ext cx="495300" cy="105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F1223B-D219-482F-A872-6C64C9D2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91997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F6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F6F4A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19F7D4-9F63-4028-9540-5527BD82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01416"/>
            <a:ext cx="495300" cy="8182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990AC2-3D42-4C33-8CC1-37EA5EC7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53766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92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9273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AA06E4-B496-4E87-871A-6F337197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6927"/>
            <a:ext cx="495300" cy="14027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1D15F9-B647-460E-9089-13B52E06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69277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17A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17A9A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1486EB-08D4-4962-BD93-FDF65E84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34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2028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0BC4C2-7260-4251-9057-E946B29E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63686"/>
            <a:ext cx="495300" cy="13560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04BBF1-29C9-4B0F-9200-4753DA4A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6036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F6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F6F4A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22ECC6-E561-42C7-AFEF-043B94F3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1416"/>
            <a:ext cx="495300" cy="8182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798E10-3495-44D3-922D-480A0810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53766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92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9273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CF3A6A-C562-4707-A510-C18C51A8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933825"/>
            <a:ext cx="4953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246A07-CFF1-4F6B-A935-CE532995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6861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17A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17A9A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E00959-4991-4A9E-A283-6643D575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334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2029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F0AFF6-4924-4AEC-BAC5-1DC50070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629891"/>
            <a:ext cx="495300" cy="15898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FB328D-9557-41C9-A48E-3537DF17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82241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F6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F6F4A"/>
                </a:solidFill>
                <a:latin typeface="Aptos"/>
                <a:ea typeface="Aptos"/>
                <a:cs typeface="Aptos"/>
              </a:rPr>
              <a:t>68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75C54F-B2BE-42D7-9310-21B19C2C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24795"/>
            <a:ext cx="495300" cy="794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2C0A7A-E824-498B-B8B8-E3A7C128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7714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92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9273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0A38B5-2927-4A05-AB2E-95915177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0723"/>
            <a:ext cx="495300" cy="11689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90B4BA-46E5-4D48-8A5C-9E82D33A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03073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17A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17A9A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43B026-D543-4438-B026-39DFBD3E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34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2030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A21410-E2A0-429E-96DF-6C34A5D0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42855"/>
            <a:ext cx="495300" cy="1776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93A923-451E-4BA8-A065-CDBB7EBE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9520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F6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F6F4A"/>
                </a:solidFill>
                <a:latin typeface="Aptos"/>
                <a:ea typeface="Aptos"/>
                <a:cs typeface="Aptos"/>
              </a:rPr>
              <a:t>76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D5A3C4-9140-4BBE-944A-C1496990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48175"/>
            <a:ext cx="4953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2FABD6-B701-46BB-B8E4-B7C09F70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005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92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9273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9F9635-088E-4118-B014-BB5D8949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66950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918EAD-0CD8-4DCB-A7B5-B497AB73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193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Google clasico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BFD160-0BE8-4CF5-88FE-D6B70425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66950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35F041-5353-48ED-8D96-7C2F3BBA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193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IA / answer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BFEB2C-7AF8-44C2-8984-41A7BD47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66950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9E2D25B-287D-4218-ACAB-71518CE7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193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redes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5AB061-29CA-4BE0-9A26-4A76951B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Punto de quiebre estimado: 2027-2028 para preguntas informativas en publico joven y educado.</a:t>
            </a:r>
          </a:p>
        </p:txBody>
      </p:sp>
    </p:spTree>
    <p:extLst>
      <p:ext uri="{BB962C8B-B14F-4D97-AF65-F5344CB8AC3E}">
        <p14:creationId xmlns:p14="http://schemas.microsoft.com/office/powerpoint/2010/main" val="8829817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DDE023-977E-422E-A3B8-3DFAC7DC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FEAE2-DC92-4969-BC76-58B0FB90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2CDB5-4BEC-406B-813D-F06081E5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Pew, AP-NORC, Gartner, DataReportal, Google | proyeccion direccional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B4677-F929-400A-8077-98B37C52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5" name="kicker-MIGRACION POR CONSULTA-marker">
            <a:extLst xmlns:a="http://schemas.openxmlformats.org/drawingml/2006/main">
              <a:ext uri="{FF2B5EF4-FFF2-40B4-BE49-F238E27FC236}">
                <a16:creationId xmlns:a16="http://schemas.microsoft.com/office/drawing/2014/main" id="{AD931A9B-F762-4B33-98E0-5491B4C4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IGRACION POR CONSULTA-label">
            <a:extLst xmlns:a="http://schemas.openxmlformats.org/drawingml/2006/main">
              <a:ext uri="{FF2B5EF4-FFF2-40B4-BE49-F238E27FC236}">
                <a16:creationId xmlns:a16="http://schemas.microsoft.com/office/drawing/2014/main" id="{A595F29A-0504-4CF0-8CE1-D8B8E4B0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MIGRACION POR CONSULTA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F38E6-19BB-46D4-B7EF-8D19D8B6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No migra igual una duda de dolor que una reserva con mapa.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8EDE4-FC6E-4C66-9E3F-04AFDBD0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3219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Duda informativa | 2026-2027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71665-7ED8-4FC0-AB71-CF8AA14C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66139-05D0-4070-8365-08658948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3686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C987D-2ED3-4CB3-B189-95C6BB1D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2486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00EAF-DC64-4CC3-844A-BCC43461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2CFDD-76A6-42CF-9323-CA437F5B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431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que es, duele, cuanto tarda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98514-4AFC-4BC9-9955-03AC712D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3219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C9A24D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C9A24D"/>
                </a:solidFill>
                <a:latin typeface="Aptos"/>
                <a:ea typeface="Aptos"/>
                <a:cs typeface="Aptos"/>
              </a:rPr>
              <a:t>Comparacion tratamiento | 2027-2028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0DA9D-2717-4728-A4FB-CD27DFD4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0B2AC-17BC-428E-8FE5-A0F65184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D4DD8-305E-4AC9-897F-982585C1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2486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6130F-0C65-48BF-8059-25C86FF3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146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83165-88E6-4D78-9F81-9CA5A2C6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67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carillas vs coronas, implante vs puente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FD5989-298A-47D5-B5F4-A6EA45DF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219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7B9273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7B9273"/>
                </a:solidFill>
                <a:latin typeface="Aptos"/>
                <a:ea typeface="Aptos"/>
                <a:cs typeface="Aptos"/>
              </a:rPr>
              <a:t>Preparar consulta | 2027-2029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F72304-29AD-46A4-9C50-64C4CEFA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671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039DF-DBFB-4DB0-B2A7-2B56F34F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67100"/>
            <a:ext cx="2657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9B103-DA55-4DF9-BE90-C8B68D82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2486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E78726-A1A1-4750-94CA-ADA4143B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5B9ADF-315F-40E3-BD87-4127F7CC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909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preguntas para hacerle al odontologo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4928E-09F9-4AF8-8C4F-E6CE7331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3219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517A9A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517A9A"/>
                </a:solidFill>
                <a:latin typeface="Aptos"/>
                <a:ea typeface="Aptos"/>
                <a:cs typeface="Aptos"/>
              </a:rPr>
              <a:t>Elegir clinica | 2028-2030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E28BF6-6336-4F2A-88F3-244B50C1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461C4D-C0BD-4D66-BB4D-943FA98B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1971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D2DAD4-F570-47A5-BEB0-0B67D80F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2486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FB6DC3-C505-447D-AB41-9C80117F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7E5E27-6D68-4AFA-A8AA-18CF40AC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148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reseñas, autoridad, casos, ubicacion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4D1CC4-22C8-4EC2-9EC2-4F325A17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3219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Reserva local | 2029+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3882C4-BD74-485A-B78A-399FBB2E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9BE9C2-4351-43CF-B870-674166E4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3A7C72-3C38-474C-91F4-1EA1C0D0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86300"/>
            <a:ext cx="2486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F98BBE-6F78-4CCC-A613-17B29C0B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0CAE61-5A22-4B8D-A73E-1E1BB813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387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mapas, horarios, WhatsApp, cobertura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F9BBB6-2FBF-482F-AAFE-FFC37D0B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Para clinicas: no hay que abandonar Google Maps ni Instagram. Hay que preparar contenido para que la IA tambien entienda y recomiende.</a:t>
            </a:r>
          </a:p>
        </p:txBody>
      </p:sp>
    </p:spTree>
    <p:extLst>
      <p:ext uri="{BB962C8B-B14F-4D97-AF65-F5344CB8AC3E}">
        <p14:creationId xmlns:p14="http://schemas.microsoft.com/office/powerpoint/2010/main" val="7393857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C2EFC6-1273-452A-86C5-EFBDE364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030CA-CE3E-4128-BB8C-82B76359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01120-7B7E-428A-AD2B-AF2D415A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Pew, AP-NORC, Gartner, DataReportal, Google | proyeccion direccional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1DC26-1CFB-4794-8C28-6A63764F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5" name="kicker-GENERACIONES-marker">
            <a:extLst xmlns:a="http://schemas.openxmlformats.org/drawingml/2006/main">
              <a:ext uri="{FF2B5EF4-FFF2-40B4-BE49-F238E27FC236}">
                <a16:creationId xmlns:a16="http://schemas.microsoft.com/office/drawing/2014/main" id="{3CEE5425-9FFB-43E5-9FFB-BA621E67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GENERACIONES-label">
            <a:extLst xmlns:a="http://schemas.openxmlformats.org/drawingml/2006/main">
              <a:ext uri="{FF2B5EF4-FFF2-40B4-BE49-F238E27FC236}">
                <a16:creationId xmlns:a16="http://schemas.microsoft.com/office/drawing/2014/main" id="{95C3E3D3-8F76-4E04-9D7C-78CA7447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GENERACIONES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0DCD8-612E-4605-9BD6-7271929B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933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Los jovenes empujan el cambio; los mayores lo adoptan cuando viene integrado.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FE4DF-1E7D-419F-8C53-36649447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13525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E4094-7617-4122-9CF7-EBEA7289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08960"/>
            <a:ext cx="51435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CC655-7381-4AFE-A015-4411EB12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3835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rPr>
              <a:t>64%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7C1C7-C117-45B1-816A-67DC5638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435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13-17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21865-8CED-44F0-BA1F-9EB8581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uso chatbot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951A5-95C6-4855-97F0-C4815F3F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66950"/>
            <a:ext cx="13525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CBC9E-51DD-459B-8B0C-6E0FDFA9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80360"/>
            <a:ext cx="51435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ECB10-D009-4CA6-B1F6-1273DDB3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3835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rPr>
              <a:t>74%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E71F6-996C-427B-8887-5074F445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1435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18-29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7C495-D53B-4E7E-BB62-EB574E8C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102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IA para info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5EECDF-42BF-4FD3-B185-228AD09C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66950"/>
            <a:ext cx="13525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6D2BE-E647-42F0-A988-5FB6D818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34740"/>
            <a:ext cx="514350" cy="937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861FF-7ECE-4BA9-8B61-0CAFBDCB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3835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rPr>
              <a:t>41%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BEDBD-6B2A-45B0-8D33-1E52BB70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30-49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8E73A6-7BD7-4839-814E-BD525761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102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uso ChatGPT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53B43-C4E1-4240-9143-DDEE7FB1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66950"/>
            <a:ext cx="13525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DA73EA-3FF1-4CE0-885F-77665E01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514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FDE45F-CCD2-40D1-BF55-4CF7DCD8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rPr>
              <a:t>25%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240CED-AEAC-4DFA-8544-64205DD7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435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50-64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90843D-74C8-47EE-B0B6-5E83A516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102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uso ChatGPT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3A4EC8-13AE-4D45-B809-9310573F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13525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9B406F-AA47-48BF-9842-E7A13DCC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434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F78B14-875F-463B-880D-B08CB5F0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3835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10%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4CEDEF-A104-4983-AA00-63C25C89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435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65+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241ACC-7379-4BA3-A585-7D493DD0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102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uso ChatGPT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6168F4-ADDD-456B-860B-5E39E363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Implicacion: el paciente joven llega con preguntas generadas por IA; el paciente mayor llegara cuando Google, WhatsApp o el celular se lo hagan invisible.</a:t>
            </a:r>
          </a:p>
        </p:txBody>
      </p:sp>
    </p:spTree>
    <p:extLst>
      <p:ext uri="{BB962C8B-B14F-4D97-AF65-F5344CB8AC3E}">
        <p14:creationId xmlns:p14="http://schemas.microsoft.com/office/powerpoint/2010/main" val="1659958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E7359A-68A1-47D8-895E-C3B5CA42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17CA1-E13A-4054-8819-2B62F81B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17D2D-504C-466B-8352-B0973ACD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Pew, AP-NORC, Gartner, DataReportal, Google | proyeccion direccional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C673D-C6EF-4FA3-A037-C81CA8F0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5" name="kicker-VIAJE DEL PACIENTE-marker">
            <a:extLst xmlns:a="http://schemas.openxmlformats.org/drawingml/2006/main">
              <a:ext uri="{FF2B5EF4-FFF2-40B4-BE49-F238E27FC236}">
                <a16:creationId xmlns:a16="http://schemas.microsoft.com/office/drawing/2014/main" id="{52DD320A-F5C6-49B4-8456-A10C7E6A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VIAJE DEL PACIENTE-label">
            <a:extLst xmlns:a="http://schemas.openxmlformats.org/drawingml/2006/main">
              <a:ext uri="{FF2B5EF4-FFF2-40B4-BE49-F238E27FC236}">
                <a16:creationId xmlns:a16="http://schemas.microsoft.com/office/drawing/2014/main" id="{4B7B0D0B-1AD9-436A-AF8D-8F35E7FC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VIAJE DEL PACIENTE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903F2-46D9-4104-9FDA-9125B51F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La IA cambia el antes de la consulta: educa, compara y pre-filtra.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CE7A1-8D45-4061-95FC-CEE5D636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724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5D3E6-14D6-4ED5-B22F-E3337DFF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rPr>
              <a:t>Antes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838FE-57EF-4368-A4D8-C33E8EED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busca sintomas</a:t>
            </a:r>
          </a:p>
          <a:p xmlns:a="http://schemas.openxmlformats.org/drawingml/2006/main">
            <a:pPr algn="l">
              <a:defRPr sz="1275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y tratamientos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E0C68-5186-4DC4-8D4C-1EE2F2A4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Google + redes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C3B08-B2F5-4388-97AC-87000FAD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47900"/>
            <a:ext cx="2724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9525">
            <a:solidFill>
              <a:srgbClr val="1624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40B41-6ED6-45E5-ADAA-B76322DD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Ahora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F118B-9C8E-42D4-966D-3A152129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861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pregunta, repregunta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 compara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DCB77-37BB-4C6A-BB27-91DA0C8F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29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E2D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9E2DF"/>
                </a:solidFill>
                <a:latin typeface="Aptos Mono"/>
                <a:ea typeface="Aptos Mono"/>
                <a:cs typeface="Aptos Mono"/>
              </a:rPr>
              <a:t>IA + Google + redes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28196-B063-4B49-BF8B-EF91BB7C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47900"/>
            <a:ext cx="2724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9A645-F4AC-4E5C-88E1-F5228DAE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rPr>
              <a:t>Proximo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878CD-9D55-483A-88E5-8C9782B3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llega con resumen,</a:t>
            </a:r>
          </a:p>
          <a:p xmlns:a="http://schemas.openxmlformats.org/drawingml/2006/main">
            <a:pPr algn="l">
              <a:defRPr sz="1275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opciones y objeciones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B9DCE-EA45-4E7E-909A-CF41E24C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IA como asesor previo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2BDB0-9554-43CE-9855-78217609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530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E2079D-6D44-40BF-9AB9-87B74800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86350"/>
            <a:ext cx="784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Cambio operativo: el odontologo no solo informa. Corrige expectativas que la IA ya ayudo a formar.</a:t>
            </a:r>
          </a:p>
        </p:txBody>
      </p:sp>
    </p:spTree>
    <p:extLst>
      <p:ext uri="{BB962C8B-B14F-4D97-AF65-F5344CB8AC3E}">
        <p14:creationId xmlns:p14="http://schemas.microsoft.com/office/powerpoint/2010/main" val="9526380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D64A93-0E37-4565-B8A0-4893CE83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09896-568E-474C-B9A0-528CF141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BC954-6B23-42CE-92B6-CBC816DB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Pew, AP-NORC, Gartner, DataReportal, Google | proyeccion direccional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EE724-A45A-4EEF-BF52-7E5D7D42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5" name="kicker-IMPACTO EN CLINICAS-marker">
            <a:extLst xmlns:a="http://schemas.openxmlformats.org/drawingml/2006/main">
              <a:ext uri="{FF2B5EF4-FFF2-40B4-BE49-F238E27FC236}">
                <a16:creationId xmlns:a16="http://schemas.microsoft.com/office/drawing/2014/main" id="{C6352260-D76C-4845-827C-F99085E8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IMPACTO EN CLINICAS-label">
            <a:extLst xmlns:a="http://schemas.openxmlformats.org/drawingml/2006/main">
              <a:ext uri="{FF2B5EF4-FFF2-40B4-BE49-F238E27FC236}">
                <a16:creationId xmlns:a16="http://schemas.microsoft.com/office/drawing/2014/main" id="{E49820E8-AB1D-4D47-B6B4-80532D42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IMPACTO EN CLINICAS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55038-3249-4725-BFB6-FD67DB7B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953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Menos clicks no significa menos pacientes: significa menos control del relato.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B1945-7288-448C-BBBF-5A83FC39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A3FA0-33A7-48B0-BF30-FF9A7EEA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1390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Canal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2A30-427C-4628-8BBF-300ECD7B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097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98365-D62E-41E5-B452-C79C4BA2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14525"/>
            <a:ext cx="3009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Que cambia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F9C9F-3B36-4165-8C81-D0DC716C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097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062BA-A278-409C-8080-4A57529A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14525"/>
            <a:ext cx="243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Riesgo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9EAA8-F547-496F-BB7D-6C989C41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BB651-1020-4E2F-9E4A-5B762250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14525"/>
            <a:ext cx="3009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Respuesta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80391-968A-4294-BBBC-089CBEE2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6CD93-B0B6-4EF9-A5A7-77035F4D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390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rPr>
              <a:t>SEO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919A2-27A1-4A82-9706-E1458471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336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76E61-2179-4FBB-93AE-A3EA983B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86000"/>
            <a:ext cx="3009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ranking sigue importando, pero no alcanza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B01C96-938F-46D9-9259-B36AC932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336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30FFD-71B1-4C4D-A083-EB9F62D3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2438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menos visitas informativas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7B5D4-B426-4B33-940C-C73B59CE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336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158E7-9498-487D-AFD1-2480CB83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3009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contenido con respuestas claras y entidad medica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4FF316-6529-441F-AF04-66283C97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B2E921-464F-4754-A2F4-2F4CBE9D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390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rPr>
              <a:t>AEO / GEO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B4BED9-8076-43D1-8330-7D0CA487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5275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B5651-DD40-48FE-8657-3C710CF4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05150"/>
            <a:ext cx="3009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la IA resume y recomienda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CBC28D-CE09-4C01-9D4B-BB1614F6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CB22F3-5C6A-4498-99A2-07EB2C93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05150"/>
            <a:ext cx="2438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no aparecer en respuestas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D7D51D-C52F-4D8F-B30A-CF52E726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A6BD04-1891-4A9C-9E0E-30E2366D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3009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FAQs, schema, autoridad, fuentes y consistencia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58C7D3-3B5F-4434-A7F7-C6934CA1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96139B-3F3F-4454-9D1E-1CF860CF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1390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rPr>
              <a:t>Google Maps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36A521-D698-4A5A-8061-3B2C5F44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719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BB3BF9-358B-4F22-B2FA-4F5707DE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24300"/>
            <a:ext cx="3009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local sigue fuerte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8D764D-4975-4532-BFB8-1FE313ED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719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160ECE-5AE3-4007-BEC1-0E983524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24300"/>
            <a:ext cx="2438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reseñas pobres pesan mas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49F596-17F8-49DC-93BC-1684DA26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719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87DD99-2086-4E40-B7C3-7D7C021F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24300"/>
            <a:ext cx="3009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perfil, reviews, fotos reales y servicios actualizados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F9BBB5-59A5-48FB-BC0C-6FB051E2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15C7DE-DE4A-45A3-AEC8-99E39B81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390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rPr>
              <a:t>Redes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8B8080-9C8B-42D5-B5C3-473B3F51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9105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A18C8E-FA08-4C8C-987D-40F3C229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43450"/>
            <a:ext cx="3009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prueba visual y deseo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02BDE2-44C7-4108-A0A3-00D56BDB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910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C25148-DF6D-4518-84B1-E02A9EB3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2438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likes sin conversion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8CF3D5-70C2-4F8C-B025-BC0BF20C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9105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71B561-26CF-48CC-A384-8BC56F4A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43450"/>
            <a:ext cx="3009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casos, educacion corta, puente a WhatsApp</a:t>
            </a:r>
          </a:p>
        </p:txBody>
      </p:sp>
    </p:spTree>
    <p:extLst>
      <p:ext uri="{BB962C8B-B14F-4D97-AF65-F5344CB8AC3E}">
        <p14:creationId xmlns:p14="http://schemas.microsoft.com/office/powerpoint/2010/main" val="11189114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0314C7-B8FE-4BA8-8FAB-73EEEFCB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A46ED-D13A-4CEB-94C2-C66E0425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2ABD5-0745-476C-9F15-DB41F272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Pew, AP-NORC, Gartner, DataReportal, Google | proyeccion direccional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F66E3-9736-47DB-9149-2741CC08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5" name="kicker-RIESGO COMERCIAL-marker">
            <a:extLst xmlns:a="http://schemas.openxmlformats.org/drawingml/2006/main">
              <a:ext uri="{FF2B5EF4-FFF2-40B4-BE49-F238E27FC236}">
                <a16:creationId xmlns:a16="http://schemas.microsoft.com/office/drawing/2014/main" id="{CDC1A2B4-88CE-4C7A-9F3C-29DDD2F8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RIESGO COMERCIAL-label">
            <a:extLst xmlns:a="http://schemas.openxmlformats.org/drawingml/2006/main">
              <a:ext uri="{FF2B5EF4-FFF2-40B4-BE49-F238E27FC236}">
                <a16:creationId xmlns:a16="http://schemas.microsoft.com/office/drawing/2014/main" id="{5AB95CD5-FAD2-4CEB-ACA3-29C57F36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RIESGO COMERCIAL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228F5-5383-403C-9318-30C76EA7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La IA comprime el embudo: responde antes de que el paciente visite tu web.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DE490-9EFF-4407-A6B1-B695F2B3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8120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7C0AF-54A3-41BA-B7F0-101CB0FF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050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Duda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60ED6-B722-4212-8AEC-6EBB04B2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76450"/>
            <a:ext cx="624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 tengo / que duele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C7D09-169E-45A5-9A64-E0805EF7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4795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D7827-B88D-4E3E-B278-437C6BBA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717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Opciones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1DA3E-4147-4515-8E0A-4F970A91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43200"/>
            <a:ext cx="491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tratamientos posibles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32E2C-2F6B-4894-B5EE-31790E56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79416-82CB-4F85-BDB0-7D79FB67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38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Comparacion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E11AF-4955-4A41-86E0-3886EDCC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09950"/>
            <a:ext cx="3486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precio, duracion, riesgos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AC598-8C67-46D9-9B69-66E4E5B0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8145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6D7F9-3FD2-40B1-AC3E-D6FDB0E7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052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4. Eleccion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E4BDE-DD0C-4494-87A4-A66913E5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767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clinica, reseñas, ubicacion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B956DE-90BA-4A03-B402-E4832412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4820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CEC3AF-FF54-4D8A-B56A-38A892D8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720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5. Contacto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49668-0990-4AB0-940C-C1C44348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434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WhatsApp / reserva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3709B-9A7D-4F00-805E-3B88746F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0070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Antes competias por el click. Ahora competis por ser la fuente que la IA considera suficientemente clara, confiable y localmente relevante.</a:t>
            </a:r>
          </a:p>
        </p:txBody>
      </p:sp>
    </p:spTree>
    <p:extLst>
      <p:ext uri="{BB962C8B-B14F-4D97-AF65-F5344CB8AC3E}">
        <p14:creationId xmlns:p14="http://schemas.microsoft.com/office/powerpoint/2010/main" val="692121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A4E976-97B1-4736-A733-35BEC83B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6F853-5E6C-4149-8984-F66667B7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54F3B-065F-4C9E-AD2F-A4FDCE73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Pew, AP-NORC, Gartner, DataReportal, Google | proyeccion direccional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F93FB-F64F-4088-9BFD-BFCB3274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5" name="kicker-NUEVOS KPI-marker">
            <a:extLst xmlns:a="http://schemas.openxmlformats.org/drawingml/2006/main">
              <a:ext uri="{FF2B5EF4-FFF2-40B4-BE49-F238E27FC236}">
                <a16:creationId xmlns:a16="http://schemas.microsoft.com/office/drawing/2014/main" id="{1B29A59F-E3C7-4273-8477-3F9B76F0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NUEVOS KPI-label">
            <a:extLst xmlns:a="http://schemas.openxmlformats.org/drawingml/2006/main">
              <a:ext uri="{FF2B5EF4-FFF2-40B4-BE49-F238E27FC236}">
                <a16:creationId xmlns:a16="http://schemas.microsoft.com/office/drawing/2014/main" id="{45056A0B-6AF8-47B5-A976-0B13E8F8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NUEVOS KPI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F7F73-2BC6-4B48-AC09-158366D9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La clinica tiene que medir visibilidad en respuestas, no solo ranking.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DA067-C86B-4A51-9483-739E17D3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F6045-E1B6-4C00-8289-13772B19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2405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4D380-B57D-4513-AFC6-68A873CE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Presencia 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3A9B1-4B2E-43A3-8DCF-C311C8C7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478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aparece en ChatGPT/Gemini/Perplexity para consultas clave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CC997-04EA-47C2-AD22-BF8620A1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8B673-1B66-4823-8BF5-770B2656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4795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204FD-1056-4525-A780-4A625377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622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Calidad de respuesta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2A331-65CC-4636-8811-0B062EEB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717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la IA explica servicios, ubicacion y diferenciales sin errores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35D04-1796-4D37-964A-9A08D3CE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CCF3D-77D1-48E9-8D11-5AAA1FDB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052B40-E923-479D-A553-5FA4153A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861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Entidad local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0CA0EC-1707-4C95-8173-A775C2B4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95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consistencia nombre, direccion, profesionales, tratamientos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98D22-A639-4CD4-99DE-634A0C9B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816567-9FB6-45F9-9571-598105E4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9575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CCDB6-98DC-4157-8EF3-D8EB9DCA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Conversion asistida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762AC-16A3-4EC1-AD33-9C0CB062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195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pacientes que llegan con preguntas o resumen generado por 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10259A-1C0F-489A-89D6-07BFDCF4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D080D-ADA7-4615-AC1C-D911BD0E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1965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AC42D6-D56B-49D5-A0F6-F0A7B219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Reputacion reusable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4A05FB-AB2B-449E-BB6E-E523D4DF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434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reviews, casos y contenido citables por buscadores y modelos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D8F8BC-D621-42AB-B189-E8E22FE6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Nuevo habito mensual: preguntarle a varias IA lo mismo que pregunta un paciente y auditar si la respuesta te favorece, te ignora o te representa mal.</a:t>
            </a:r>
          </a:p>
        </p:txBody>
      </p:sp>
    </p:spTree>
    <p:extLst>
      <p:ext uri="{BB962C8B-B14F-4D97-AF65-F5344CB8AC3E}">
        <p14:creationId xmlns:p14="http://schemas.microsoft.com/office/powerpoint/2010/main" val="17054060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8C5892-B97E-439A-B19C-DFBA2633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C66BE-8B80-4F90-A986-276256BE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A89D3-D856-4533-8854-AF5097F9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Pew, AP-NORC, Gartner, DataReportal, Google | proyeccion direccional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2B3EF-74B0-4411-B6D6-BAAADBAC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5" name="kicker-PLAN 90 DIAS-marker">
            <a:extLst xmlns:a="http://schemas.openxmlformats.org/drawingml/2006/main">
              <a:ext uri="{FF2B5EF4-FFF2-40B4-BE49-F238E27FC236}">
                <a16:creationId xmlns:a16="http://schemas.microsoft.com/office/drawing/2014/main" id="{0987BFBC-F5D6-4882-9EF7-47AC566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PLAN 90 DIAS-label">
            <a:extLst xmlns:a="http://schemas.openxmlformats.org/drawingml/2006/main">
              <a:ext uri="{FF2B5EF4-FFF2-40B4-BE49-F238E27FC236}">
                <a16:creationId xmlns:a16="http://schemas.microsoft.com/office/drawing/2014/main" id="{FD8C8F16-90B0-4620-AA60-1C3CE8A8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PLAN 90 DIAS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5ADF5-2E94-472D-97F3-115BD89B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933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Prepararse para IA Search no es abandonar SEO: es hacerlo mas estructurado.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26870-A63E-45D4-9532-11698A4F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08F1E-91D3-49D2-BA9A-66BB07E2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A4D0E-D7FA-4556-9E9E-CA8CB3E1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rPr>
              <a:t>0-30 dias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F7862-CB86-4A3E-AE78-39E5EB6A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ordenar entidad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96B8D-A951-430A-A3A3-AD3A6E47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338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Google Business, NAP, servicios, profesionales, ubicacion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F903A-B62F-423F-A9B6-3FEF79FD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21CD7-092E-4795-9B6C-2009FA5C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DFDB3-5DFB-4230-9065-FDABD61E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860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rPr>
              <a:t>31-60 dias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4ADB5-D4AC-45BE-AE44-3748341E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385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crear respuestas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A4FBF-07B2-418A-AD4A-8405D2B9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338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FAQs reales, tratamientos, riesgos, recuperacion, costos orientativos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DE42F-00A0-42B8-AC61-C07769C6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96D93-16F6-4ED1-BD2B-5B8118B9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A1CE5-3C8A-49B2-934D-13C636C8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rPr>
              <a:t>61-90 dias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C87A1-6907-4711-8576-5085E56E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probar 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69363E-6382-4539-8CB6-66EF2453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338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auditar respuestas, corregir huecos, medir consultas y WhatsApp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EBCA4-E434-4CF5-9C57-37047671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Prioridad odontologica: responder mejor que el promedio, con lenguaje humano, evidencia, localidad y caminos claros a consulta.</a:t>
            </a:r>
          </a:p>
        </p:txBody>
      </p:sp>
    </p:spTree>
    <p:extLst>
      <p:ext uri="{BB962C8B-B14F-4D97-AF65-F5344CB8AC3E}">
        <p14:creationId xmlns:p14="http://schemas.microsoft.com/office/powerpoint/2010/main" val="7261938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0111DD-CCE4-4CD6-B5E4-FFCD2C55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F64A3-5546-4E0D-871E-7C9E4861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E9BAC-2313-48C7-8AAB-F4094B37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Pew, AP-NORC, Gartner, DataReportal, Google | proyeccion direccional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692A5-51B8-425B-924E-4F56E422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2C59A-28B8-4439-A691-59D392C0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CIERRE-marker">
            <a:extLst xmlns:a="http://schemas.openxmlformats.org/drawingml/2006/main">
              <a:ext uri="{FF2B5EF4-FFF2-40B4-BE49-F238E27FC236}">
                <a16:creationId xmlns:a16="http://schemas.microsoft.com/office/drawing/2014/main" id="{255B3281-2646-4BF8-9A4A-DB58B6C8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CIERRE-label">
            <a:extLst xmlns:a="http://schemas.openxmlformats.org/drawingml/2006/main">
              <a:ext uri="{FF2B5EF4-FFF2-40B4-BE49-F238E27FC236}">
                <a16:creationId xmlns:a16="http://schemas.microsoft.com/office/drawing/2014/main" id="{32A8F36E-B0B0-4F11-97CC-9DAB3F40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CIERRE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CF86D-4C00-460D-928D-17D6DFFE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clinica que educa mejor sera recomendada mejor.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035C1-0D9E-4564-9E44-641EF345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571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7D7C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7D7CE"/>
                </a:solidFill>
                <a:latin typeface="Aptos"/>
                <a:ea typeface="Aptos"/>
                <a:cs typeface="Aptos"/>
              </a:rPr>
              <a:t>Por humanos, por Google y por 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12CE3-0CC0-4866-A1C8-A017170D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Contenido claro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188B7-41B6-40BA-92AB-13040B6B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9A06E-A385-4F5F-A228-A83060BD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7CE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7D7CE"/>
                </a:solidFill>
                <a:latin typeface="Aptos"/>
                <a:ea typeface="Aptos"/>
                <a:cs typeface="Aptos"/>
              </a:rPr>
              <a:t>responde la pregunta real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6D544-9014-4D99-8B3B-E9AE15B1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Autoridad verificable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BD92A-094B-4417-B32D-A780B583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0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08D9B-BA7E-4DEF-8A92-92B302E3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053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7CE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7D7CE"/>
                </a:solidFill>
                <a:latin typeface="Aptos"/>
                <a:ea typeface="Aptos"/>
                <a:cs typeface="Aptos"/>
              </a:rPr>
              <a:t>profesionales, casos, fuentes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FCCA8-1FAC-4E21-A004-AC43E233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Reputacion local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2E3E3-C866-4B3A-8600-54FEC8F9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BE1E8-4840-49BE-8063-EE9025AD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625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7CE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7D7CE"/>
                </a:solidFill>
                <a:latin typeface="Aptos"/>
                <a:ea typeface="Aptos"/>
                <a:cs typeface="Aptos"/>
              </a:rPr>
              <a:t>reviews, mapas, experiencia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7D08C-137F-40CD-BD9F-EAD616AE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Conversion directa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C3CE00-2DFA-42AB-8CED-3B83B955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149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FBE7F-B98F-4218-8BCC-17F09A4E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7CE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7D7CE"/>
                </a:solidFill>
                <a:latin typeface="Aptos"/>
                <a:ea typeface="Aptos"/>
                <a:cs typeface="Aptos"/>
              </a:rPr>
              <a:t>WhatsApp y agenda sin friccion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4B178-9BBF-476A-9C56-FB0288B2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002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D0746-51C7-4A1F-9ED6-B26737CF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00250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pregunta estrategica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F4043-A050-4E71-97BB-AA079312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05100"/>
            <a:ext cx="1695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D9E2DF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D9E2DF"/>
                </a:solidFill>
                <a:latin typeface="Aptos"/>
                <a:ea typeface="Aptos"/>
                <a:cs typeface="Aptos"/>
              </a:rPr>
              <a:t>Cuando un paciente le pregunte a una IA por tu tratamiento, tu clinica va a aparecer como respuesta... o como silencio.</a:t>
            </a:r>
          </a:p>
        </p:txBody>
      </p:sp>
    </p:spTree>
    <p:extLst>
      <p:ext uri="{BB962C8B-B14F-4D97-AF65-F5344CB8AC3E}">
        <p14:creationId xmlns:p14="http://schemas.microsoft.com/office/powerpoint/2010/main" val="1307684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2026-05-21T09:14:10.2420000Z</dcterms:created>
  <dcterms:modified xsi:type="dcterms:W3CDTF">2026-05-21T09:14:10.2420000Z</dcterms:modified>
</coreProperties>
</file>